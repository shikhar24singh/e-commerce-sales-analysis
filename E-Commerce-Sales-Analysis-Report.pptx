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pen Sans Light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  <p:embeddedFont>
      <p:font typeface="Open Sans Medium"/>
      <p:regular r:id="rId201317"/>
    </p:embeddedFont>
    <p:embeddedFont>
      <p:font typeface="Open Sans SemiBold"/>
      <p:regular r:id="rId201318"/>
    </p:embeddedFont>
    <p:embeddedFont>
      <p:font typeface="Open Sans ExtraBold"/>
      <p:regular r:id="rId201319"/>
    </p:embeddedFont>
    <p:embeddedFont>
      <p:font typeface="Playfair Display"/>
      <p:regular r:id="rId201320"/>
    </p:embeddedFont>
    <p:embeddedFont>
      <p:font typeface="Playfair Display Medium"/>
      <p:regular r:id="rId201321"/>
    </p:embeddedFont>
    <p:embeddedFont>
      <p:font typeface="Playfair Display SemiBold"/>
      <p:regular r:id="rId201322"/>
    </p:embeddedFont>
    <p:embeddedFont>
      <p:font typeface="Playfair Display Bold"/>
      <p:regular r:id="rId201323"/>
    </p:embeddedFont>
    <p:embeddedFont>
      <p:font typeface="Playfair Display ExtraBold"/>
      <p:regular r:id="rId201324"/>
    </p:embeddedFont>
    <p:embeddedFont>
      <p:font typeface="Playfair Display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817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E-Commerce Sales Analysis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675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Performance · Revenue Insights · Product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87799"/>
            <a:ext cx="1075209" cy="266402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030289"/>
            <a:ext cx="136229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1,000 PRODUCTS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71170" y="2983037"/>
            <a:ext cx="93962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0987" y="3030289"/>
            <a:ext cx="12171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CATEGORIES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81638" y="2983037"/>
            <a:ext cx="131578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1456" y="3030289"/>
            <a:ext cx="159335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MONTHS OF DATA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25119" y="341843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Tools: Python · PostgreSQL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94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4945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analysis of transactional product-level data to identify revenue drivers, seasonal patterns, and customer review impacts on business outcomes.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2333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1,000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909637" y="28783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Products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72433" y="22333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6M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8783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48747" y="22333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₹1.49B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6462266" y="28783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84238" y="345415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2297757" y="40990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0553" y="345415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₹1.49M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057031" y="4099099"/>
            <a:ext cx="1806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Avg. Revenue/Product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30932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Objectives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489" y="963885"/>
            <a:ext cx="7794947" cy="67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940" y="119687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0585" y="109113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Analysis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30585" y="132159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categories and products drive the most revenue? How concentrated is it?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489" y="1731615"/>
            <a:ext cx="7794947" cy="677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9940" y="196460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230585" y="18588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Sales Trends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30585" y="208932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months peak? Are there identifiable seasonal patterns?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489" y="2499345"/>
            <a:ext cx="7794947" cy="677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9940" y="273233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30585" y="262659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30585" y="285705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products outperform? Which require intervention or discontinuation?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489" y="3267075"/>
            <a:ext cx="7794947" cy="677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9940" y="350006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230585" y="339432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Reviews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230585" y="3624783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 higher ratings drive higher sales? Which categories get the best feedback?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4489" y="4034805"/>
            <a:ext cx="7794947" cy="6777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9940" y="426779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230585" y="416205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Strategic Planning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230585" y="4392513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optimize inventory and prioritize category investment?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449089"/>
            <a:ext cx="3639592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&amp; Methodology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2113657"/>
            <a:ext cx="1428750" cy="142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1058912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Variables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77905" y="1351657"/>
            <a:ext cx="2649066" cy="2375595"/>
          </a:xfrm>
          <a:prstGeom prst="roundRect">
            <a:avLst>
              <a:gd name="adj" fmla="val 74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00093" y="1419448"/>
            <a:ext cx="154223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9826" y="1419448"/>
            <a:ext cx="108503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Integer — Unique identifier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00093" y="1893615"/>
            <a:ext cx="154223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19826" y="1893615"/>
            <a:ext cx="108503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— Product category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00093" y="2367781"/>
            <a:ext cx="154223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19826" y="2367781"/>
            <a:ext cx="108503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Decimal — Selling price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00093" y="2841947"/>
            <a:ext cx="154223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Score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19826" y="2841947"/>
            <a:ext cx="108503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Float — Customer rating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00093" y="3316114"/>
            <a:ext cx="154223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Month 1–12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19826" y="3316114"/>
            <a:ext cx="108503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Integer — Monthly units sold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77905" y="3836566"/>
            <a:ext cx="2649066" cy="748531"/>
          </a:xfrm>
          <a:prstGeom prst="roundRect">
            <a:avLst>
              <a:gd name="adj" fmla="val 2353"/>
            </a:avLst>
          </a:prstGeom>
          <a:solidFill>
            <a:srgbClr val="B6D6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56" y="4009132"/>
            <a:ext cx="146745" cy="11735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59351" y="3953321"/>
            <a:ext cx="215026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Annual Sales = Sum(Month 1–12) · Annual Revenue = Annual Sales × Price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revenue despite not being the highest-priced category. Sports and Toys also perform strongly, indicating high consumer demand.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3 categories contribute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45%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total revenue — a clear concentration among specific consumer interests.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261420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48123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424386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 inventory investment, marketing campaigns, and product expansion in Books, Sports, and Toys.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410394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Monthly Sales Trends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298" y="823168"/>
            <a:ext cx="6419404" cy="3594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62298" y="4486647"/>
            <a:ext cx="641940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October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peaked at 514,798 units — likely driven by festive season demand and promotional campaigns.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was the weakest month (478,800 units). Targeted end-of-year promotions are recommended to close the gap.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492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18220"/>
            <a:ext cx="21732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Revenue Products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466031"/>
            <a:ext cx="3913808" cy="2222897"/>
          </a:xfrm>
          <a:prstGeom prst="roundRect">
            <a:avLst>
              <a:gd name="adj" fmla="val 8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3859" y="1550268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88344" y="1550268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3859" y="1919957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306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8344" y="1919957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₹3.81M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3859" y="2289646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532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88344" y="2289646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₹3.76M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3859" y="2659335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53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88344" y="2659335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₹3.72M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3859" y="3029024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229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8344" y="3029024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₹3.70M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3859" y="3398713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391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8344" y="3398713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₹3.65M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8836" y="1118220"/>
            <a:ext cx="242842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Pareto Principle in 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8836" y="1450479"/>
            <a:ext cx="39138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small number of products contribute disproportionately to total revenue — a classic retail pattern.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3969172"/>
            <a:ext cx="4027884" cy="78276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6172" y="411636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Prioritize Stock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6172" y="4398764"/>
            <a:ext cx="36763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availability of top performers year-round.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997" y="3969172"/>
            <a:ext cx="4027884" cy="7827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24338" y="4116363"/>
            <a:ext cx="181607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Low Performers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24338" y="4398764"/>
            <a:ext cx="36763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pricing, relevance, and potential discontinuation.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402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Category Deep Dive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80530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757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Books — #1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82218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revenue, consistent demand. Expand catalog and bundle recommendations.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980530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757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Sports — #2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82218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demand and engagement. Run seasonal campaigns and cross-sell accessories.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980530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757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Toys — #3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82218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High-volume category. Leverage holiday promotions and gift bundles.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980530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75706"/>
            <a:ext cx="1797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Home &amp; Kitchen — #7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982218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Lowest revenue category. Reevaluate assortment and improve visibility.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938"/>
            <a:ext cx="469552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Reviews &amp; Pricing Analysis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52153"/>
            <a:ext cx="275890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Review Correlation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92002"/>
            <a:ext cx="391105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are driven by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demand, pricing, and product visibility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not customer ratings.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1590" y="1152153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Pricing Observations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2266" y="1512280"/>
            <a:ext cx="202629" cy="2026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80633" y="150815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Mid-priced products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80633" y="1847999"/>
            <a:ext cx="347201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Dominate sales volume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2266" y="2320789"/>
            <a:ext cx="202629" cy="2026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0633" y="231665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Premium products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180633" y="2656508"/>
            <a:ext cx="347201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Contribute significantly to revenue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2266" y="3129297"/>
            <a:ext cx="202629" cy="2026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80633" y="312516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Balanced pricing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180633" y="3465016"/>
            <a:ext cx="347201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effective overall strategy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96119" y="3965897"/>
            <a:ext cx="4011513" cy="769590"/>
          </a:xfrm>
          <a:prstGeom prst="roundRect">
            <a:avLst>
              <a:gd name="adj" fmla="val 2634"/>
            </a:avLst>
          </a:prstGeom>
          <a:solidFill>
            <a:srgbClr val="E0E0EC"/>
          </a:solidFill>
          <a:ln/>
        </p:spPr>
      </p:sp>
      <p:sp>
        <p:nvSpPr>
          <p:cNvPr id="16" name="Text 11"/>
          <p:cNvSpPr/>
          <p:nvPr/>
        </p:nvSpPr>
        <p:spPr>
          <a:xfrm>
            <a:off x="631180" y="410095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Score vs Sales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1180" y="4389313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Correlation: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−0.018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virtually no relationship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36368" y="3965897"/>
            <a:ext cx="4011513" cy="769590"/>
          </a:xfrm>
          <a:prstGeom prst="roundRect">
            <a:avLst>
              <a:gd name="adj" fmla="val 2634"/>
            </a:avLst>
          </a:prstGeom>
          <a:solidFill>
            <a:srgbClr val="E0E0EC"/>
          </a:solidFill>
          <a:ln/>
        </p:spPr>
      </p:sp>
      <p:sp>
        <p:nvSpPr>
          <p:cNvPr id="19" name="Text 14"/>
          <p:cNvSpPr/>
          <p:nvPr/>
        </p:nvSpPr>
        <p:spPr>
          <a:xfrm>
            <a:off x="4771430" y="4100959"/>
            <a:ext cx="17045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Count vs Sales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71430" y="4389313"/>
            <a:ext cx="37413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Correlation: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−0.069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very weak relationship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841"/>
            <a:ext cx="592522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Findings &amp; Recommendations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090017"/>
            <a:ext cx="2628602" cy="1762795"/>
          </a:xfrm>
          <a:prstGeom prst="roundRect">
            <a:avLst>
              <a:gd name="adj" fmla="val 1169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633413" y="1227311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10101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671" y="1340569"/>
            <a:ext cx="185365" cy="185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413" y="177224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Books Lead Revenue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3413" y="2066553"/>
            <a:ext cx="235401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 investment in Books, Sports, and Toys.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57699" y="1090017"/>
            <a:ext cx="2628602" cy="1762795"/>
          </a:xfrm>
          <a:prstGeom prst="roundRect">
            <a:avLst>
              <a:gd name="adj" fmla="val 1169"/>
            </a:avLst>
          </a:prstGeom>
          <a:solidFill>
            <a:srgbClr val="E0E0EC"/>
          </a:solidFill>
          <a:ln/>
        </p:spPr>
      </p:sp>
      <p:sp>
        <p:nvSpPr>
          <p:cNvPr id="9" name="Shape 6"/>
          <p:cNvSpPr/>
          <p:nvPr/>
        </p:nvSpPr>
        <p:spPr>
          <a:xfrm>
            <a:off x="3394993" y="1227311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10101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8251" y="1340569"/>
            <a:ext cx="185365" cy="1853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4993" y="177224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October Peaks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94993" y="2066553"/>
            <a:ext cx="235401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Stock up ahead of October and November to avoid shortages.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19279" y="1090017"/>
            <a:ext cx="2628602" cy="1762795"/>
          </a:xfrm>
          <a:prstGeom prst="roundRect">
            <a:avLst>
              <a:gd name="adj" fmla="val 1169"/>
            </a:avLst>
          </a:prstGeom>
          <a:solidFill>
            <a:srgbClr val="E0E0EC"/>
          </a:solidFill>
          <a:ln/>
        </p:spPr>
      </p:sp>
      <p:sp>
        <p:nvSpPr>
          <p:cNvPr id="14" name="Shape 10"/>
          <p:cNvSpPr/>
          <p:nvPr/>
        </p:nvSpPr>
        <p:spPr>
          <a:xfrm>
            <a:off x="6156573" y="1227311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10101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9831" y="1340569"/>
            <a:ext cx="185365" cy="1853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56573" y="1772245"/>
            <a:ext cx="185484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Concentration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56573" y="2066553"/>
            <a:ext cx="235401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top-selling product lines; review low performers for discontinuation.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96119" y="2985790"/>
            <a:ext cx="4009355" cy="1762795"/>
          </a:xfrm>
          <a:prstGeom prst="roundRect">
            <a:avLst>
              <a:gd name="adj" fmla="val 1169"/>
            </a:avLst>
          </a:prstGeom>
          <a:solidFill>
            <a:srgbClr val="E0E0EC"/>
          </a:solidFill>
          <a:ln/>
        </p:spPr>
      </p:sp>
      <p:sp>
        <p:nvSpPr>
          <p:cNvPr id="19" name="Shape 14"/>
          <p:cNvSpPr/>
          <p:nvPr/>
        </p:nvSpPr>
        <p:spPr>
          <a:xfrm>
            <a:off x="633413" y="312308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10101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671" y="3236342"/>
            <a:ext cx="185365" cy="1853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413" y="3668018"/>
            <a:ext cx="198990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Ratings Don't Drive Sales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3413" y="3962326"/>
            <a:ext cx="37347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visibility, pricing, and category campaigns over review management.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38452" y="2985790"/>
            <a:ext cx="4009430" cy="1762795"/>
          </a:xfrm>
          <a:prstGeom prst="roundRect">
            <a:avLst>
              <a:gd name="adj" fmla="val 1169"/>
            </a:avLst>
          </a:prstGeom>
          <a:solidFill>
            <a:srgbClr val="E0E0EC"/>
          </a:solidFill>
          <a:ln/>
        </p:spPr>
      </p:sp>
      <p:sp>
        <p:nvSpPr>
          <p:cNvPr id="24" name="Shape 18"/>
          <p:cNvSpPr/>
          <p:nvPr/>
        </p:nvSpPr>
        <p:spPr>
          <a:xfrm>
            <a:off x="4775746" y="312308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10101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9004" y="3236342"/>
            <a:ext cx="185365" cy="1853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75746" y="366801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Strategy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75746" y="3962326"/>
            <a:ext cx="37348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customer demographics, repeat purchase behavior, and marketing attribution for predictive analytics.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2026-06-22T12:00:12Z</dcterms:created>
  <dcterms:modified xsi:type="dcterms:W3CDTF">2026-06-22T12:00:12Z</dcterms:modified>
</cp:coreProperties>
</file>